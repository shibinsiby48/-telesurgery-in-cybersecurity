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257" r:id="rId3"/>
    <p:sldId id="267" r:id="rId4"/>
    <p:sldId id="268" r:id="rId5"/>
    <p:sldId id="269" r:id="rId6"/>
    <p:sldId id="270" r:id="rId7"/>
    <p:sldId id="271" r:id="rId8"/>
    <p:sldId id="272" r:id="rId9"/>
    <p:sldId id="273" r:id="rId10"/>
    <p:sldId id="274" r:id="rId11"/>
    <p:sldId id="261" r:id="rId12"/>
    <p:sldId id="275" r:id="rId13"/>
    <p:sldId id="276" r:id="rId14"/>
    <p:sldId id="264" r:id="rId15"/>
    <p:sldId id="279" r:id="rId16"/>
    <p:sldId id="265" r:id="rId17"/>
    <p:sldId id="266"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bin T S" initials="ST" lastIdx="1" clrIdx="0">
    <p:extLst>
      <p:ext uri="{19B8F6BF-5375-455C-9EA6-DF929625EA0E}">
        <p15:presenceInfo xmlns:p15="http://schemas.microsoft.com/office/powerpoint/2012/main" userId="9496572f511175b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p:cViewPr varScale="1">
        <p:scale>
          <a:sx n="62" d="100"/>
          <a:sy n="62" d="100"/>
        </p:scale>
        <p:origin x="44" y="284"/>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5/25/2026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5/25/2026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5/25/2026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5/25/2026</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5/25/2026</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5/25/2026</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5/25/2026</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5/25/2026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5/25/2026</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5/25/2026</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ebp"/><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pattFill prst="pct10">
          <a:fgClr>
            <a:srgbClr val="C00000"/>
          </a:fgClr>
          <a:bgClr>
            <a:schemeClr val="bg2">
              <a:lumMod val="90000"/>
            </a:schemeClr>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91544" y="423910"/>
            <a:ext cx="7704856" cy="3725170"/>
          </a:xfrm>
        </p:spPr>
        <p:txBody>
          <a:bodyPr>
            <a:normAutofit/>
          </a:bodyPr>
          <a:lstStyle/>
          <a:p>
            <a:pPr algn="ctr"/>
            <a:r>
              <a:rPr lang="en-US" dirty="0"/>
              <a:t>Telesurgery Cybersecurity    Prediction                              </a:t>
            </a:r>
          </a:p>
        </p:txBody>
      </p:sp>
      <p:sp>
        <p:nvSpPr>
          <p:cNvPr id="3" name="Subtitle 2"/>
          <p:cNvSpPr>
            <a:spLocks noGrp="1"/>
          </p:cNvSpPr>
          <p:nvPr>
            <p:ph type="subTitle" idx="1"/>
          </p:nvPr>
        </p:nvSpPr>
        <p:spPr>
          <a:xfrm>
            <a:off x="9264352" y="5949280"/>
            <a:ext cx="4098175" cy="1574304"/>
          </a:xfrm>
        </p:spPr>
        <p:txBody>
          <a:bodyPr>
            <a:normAutofit/>
          </a:bodyPr>
          <a:lstStyle/>
          <a:p>
            <a:r>
              <a:rPr lang="en-US" dirty="0"/>
              <a:t>Submitted by</a:t>
            </a:r>
          </a:p>
          <a:p>
            <a:r>
              <a:rPr lang="en-US" dirty="0"/>
              <a:t>                         Shibin t s  </a:t>
            </a:r>
          </a:p>
          <a:p>
            <a:r>
              <a:rPr lang="en-US" dirty="0"/>
              <a:t>    </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INTRODUCTION</a:t>
            </a:r>
          </a:p>
        </p:txBody>
      </p:sp>
      <p:sp>
        <p:nvSpPr>
          <p:cNvPr id="3" name="Content Placeholder 2"/>
          <p:cNvSpPr>
            <a:spLocks noGrp="1"/>
          </p:cNvSpPr>
          <p:nvPr>
            <p:ph idx="1"/>
          </p:nvPr>
        </p:nvSpPr>
        <p:spPr>
          <a:xfrm>
            <a:off x="911424" y="1916832"/>
            <a:ext cx="10369152" cy="4483968"/>
          </a:xfrm>
        </p:spPr>
        <p:txBody>
          <a:bodyPr/>
          <a:lstStyle/>
          <a:p>
            <a:r>
              <a:rPr lang="en-US" dirty="0"/>
              <a:t>Telesurgery relies on real-time data transmission, making it highly sensitive to network latency, data breaches, and system manipulation.</a:t>
            </a:r>
          </a:p>
          <a:p>
            <a:r>
              <a:rPr lang="en-US" dirty="0"/>
              <a:t>Cyber threats such as hacking, malware, and unauthorized access can disrupt surgical procedures and compromise patient data.</a:t>
            </a:r>
          </a:p>
          <a:p>
            <a:r>
              <a:rPr lang="en-US" dirty="0"/>
              <a:t>Strong cybersecurity measures including encryption, authentication, and  continuous monitoring are essential for safe </a:t>
            </a:r>
            <a:r>
              <a:rPr lang="en-US" dirty="0" err="1"/>
              <a:t>telesurgical</a:t>
            </a:r>
            <a:r>
              <a:rPr lang="en-US" dirty="0"/>
              <a:t> operations. Addressing cybersecurity risks builds trust among patients, surgeons, and healthcare institutions and supports the future growth of remote surgery</a:t>
            </a:r>
          </a:p>
          <a:p>
            <a:endParaRPr lang="en-US" dirty="0"/>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EF60F-9A36-AC35-9B1B-4A93B1301CE9}"/>
              </a:ext>
            </a:extLst>
          </p:cNvPr>
          <p:cNvSpPr>
            <a:spLocks noGrp="1"/>
          </p:cNvSpPr>
          <p:nvPr>
            <p:ph type="title"/>
          </p:nvPr>
        </p:nvSpPr>
        <p:spPr/>
        <p:txBody>
          <a:bodyPr/>
          <a:lstStyle/>
          <a:p>
            <a:r>
              <a:rPr lang="en-US" dirty="0"/>
              <a:t>                               Objective</a:t>
            </a:r>
            <a:endParaRPr lang="en-IN" dirty="0"/>
          </a:p>
        </p:txBody>
      </p:sp>
      <p:sp>
        <p:nvSpPr>
          <p:cNvPr id="4" name="Rectangle 1">
            <a:extLst>
              <a:ext uri="{FF2B5EF4-FFF2-40B4-BE49-F238E27FC236}">
                <a16:creationId xmlns:a16="http://schemas.microsoft.com/office/drawing/2014/main" id="{9A03A731-C1EC-7519-317E-8250F409A99B}"/>
              </a:ext>
            </a:extLst>
          </p:cNvPr>
          <p:cNvSpPr>
            <a:spLocks noGrp="1" noChangeArrowheads="1"/>
          </p:cNvSpPr>
          <p:nvPr>
            <p:ph idx="1"/>
          </p:nvPr>
        </p:nvSpPr>
        <p:spPr bwMode="auto">
          <a:xfrm>
            <a:off x="934144" y="1916832"/>
            <a:ext cx="100584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 understand the importance of cybersecurity in telesurgery and why it is  </a:t>
            </a:r>
          </a:p>
          <a:p>
            <a:pPr marL="0" marR="0" lvl="0" indent="0" defTabSz="914400" rtl="0" eaLnBrk="0" fontAlgn="base" latinLnBrk="0" hangingPunct="0">
              <a:lnSpc>
                <a:spcPct val="100000"/>
              </a:lnSpc>
              <a:spcBef>
                <a:spcPct val="0"/>
              </a:spcBef>
              <a:spcAft>
                <a:spcPct val="0"/>
              </a:spcAft>
              <a:buClrTx/>
              <a:buSzTx/>
              <a:buNone/>
              <a:tabLst/>
            </a:pPr>
            <a:r>
              <a:rPr lang="en-US" altLang="en-US" dirty="0">
                <a:solidFill>
                  <a:schemeClr val="tx1"/>
                </a:solidFill>
              </a:rPr>
              <a:t>   critical for patient safely</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R="0" lvl="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dirty="0">
                <a:solidFill>
                  <a:schemeClr val="tx1"/>
                </a:solidFill>
              </a:rPr>
              <a:t>To identity common cyber threats and risks associated with remote                                                                                                surgical</a:t>
            </a:r>
          </a:p>
          <a:p>
            <a:pPr marR="0" lvl="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R="0" lvl="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To highlight simple and effective security measures to protect telesurgery systems.</a:t>
            </a:r>
          </a:p>
          <a:p>
            <a:pPr marR="0" lvl="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R="0" lvl="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To emphasize the need for secure and reliable technology in the future of remote healthcare</a:t>
            </a:r>
          </a:p>
        </p:txBody>
      </p:sp>
    </p:spTree>
    <p:extLst>
      <p:ext uri="{BB962C8B-B14F-4D97-AF65-F5344CB8AC3E}">
        <p14:creationId xmlns:p14="http://schemas.microsoft.com/office/powerpoint/2010/main" val="130140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0"/>
                <a:lumOff val="100000"/>
              </a:schemeClr>
            </a:gs>
            <a:gs pos="100000">
              <a:schemeClr val="accent1">
                <a:lumMod val="10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6B82B3B-8553-27E8-49CE-7F59C461BF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7968" y="3429000"/>
            <a:ext cx="6156460" cy="3078230"/>
          </a:xfrm>
          <a:prstGeom prst="rect">
            <a:avLst/>
          </a:prstGeom>
          <a:effectLst>
            <a:softEdge rad="50800"/>
          </a:effectLst>
        </p:spPr>
      </p:pic>
      <p:pic>
        <p:nvPicPr>
          <p:cNvPr id="10" name="Picture 9">
            <a:extLst>
              <a:ext uri="{FF2B5EF4-FFF2-40B4-BE49-F238E27FC236}">
                <a16:creationId xmlns:a16="http://schemas.microsoft.com/office/drawing/2014/main" id="{C8DB53E7-B51C-B840-D092-4DDFD08C20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951" y="355476"/>
            <a:ext cx="5481009" cy="3001516"/>
          </a:xfrm>
          <a:prstGeom prst="rect">
            <a:avLst/>
          </a:prstGeom>
          <a:effectLst>
            <a:softEdge rad="50800"/>
          </a:effectLst>
        </p:spPr>
      </p:pic>
      <p:sp>
        <p:nvSpPr>
          <p:cNvPr id="12" name="TextBox 11">
            <a:extLst>
              <a:ext uri="{FF2B5EF4-FFF2-40B4-BE49-F238E27FC236}">
                <a16:creationId xmlns:a16="http://schemas.microsoft.com/office/drawing/2014/main" id="{F3DCE9C5-E1F6-313F-16F8-4F9564DB2ADC}"/>
              </a:ext>
            </a:extLst>
          </p:cNvPr>
          <p:cNvSpPr txBox="1"/>
          <p:nvPr/>
        </p:nvSpPr>
        <p:spPr>
          <a:xfrm>
            <a:off x="5879976" y="378951"/>
            <a:ext cx="6456040" cy="3016210"/>
          </a:xfrm>
          <a:prstGeom prst="rect">
            <a:avLst/>
          </a:prstGeom>
          <a:noFill/>
        </p:spPr>
        <p:txBody>
          <a:bodyPr wrap="square">
            <a:spAutoFit/>
          </a:bodyPr>
          <a:lstStyle/>
          <a:p>
            <a:pPr>
              <a:buNone/>
            </a:pPr>
            <a:r>
              <a:rPr lang="en-US" sz="3600" b="1" dirty="0"/>
              <a:t>CYBERSECURITY IN TELESURGERY</a:t>
            </a:r>
          </a:p>
          <a:p>
            <a:pPr>
              <a:buNone/>
            </a:pPr>
            <a:endParaRPr lang="en-US" b="1" dirty="0"/>
          </a:p>
          <a:p>
            <a:pPr>
              <a:buNone/>
            </a:pPr>
            <a:r>
              <a:rPr lang="en-US" sz="2000" dirty="0"/>
              <a:t>Cybersecurity in telesurgery is the protection of remote surgical systems, networks, and patient data from cyberattacks during online surgical procedures. It ensures safe communication between the surgeon and the robotic system</a:t>
            </a:r>
          </a:p>
        </p:txBody>
      </p:sp>
      <p:sp>
        <p:nvSpPr>
          <p:cNvPr id="14" name="TextBox 13">
            <a:extLst>
              <a:ext uri="{FF2B5EF4-FFF2-40B4-BE49-F238E27FC236}">
                <a16:creationId xmlns:a16="http://schemas.microsoft.com/office/drawing/2014/main" id="{E6600309-6CB8-CDBE-839A-AE0C69E38B8C}"/>
              </a:ext>
            </a:extLst>
          </p:cNvPr>
          <p:cNvSpPr txBox="1"/>
          <p:nvPr/>
        </p:nvSpPr>
        <p:spPr>
          <a:xfrm>
            <a:off x="279186" y="3573016"/>
            <a:ext cx="5336993" cy="2585323"/>
          </a:xfrm>
          <a:prstGeom prst="rect">
            <a:avLst/>
          </a:prstGeom>
          <a:noFill/>
        </p:spPr>
        <p:txBody>
          <a:bodyPr wrap="square">
            <a:spAutoFit/>
          </a:bodyPr>
          <a:lstStyle/>
          <a:p>
            <a:pPr>
              <a:buNone/>
            </a:pPr>
            <a:r>
              <a:rPr lang="en-US" b="1" dirty="0"/>
              <a:t>Importance:</a:t>
            </a:r>
          </a:p>
          <a:p>
            <a:pPr>
              <a:buNone/>
            </a:pPr>
            <a:endParaRPr lang="en-US" dirty="0"/>
          </a:p>
          <a:p>
            <a:pPr>
              <a:buFont typeface="Arial" panose="020B0604020202020204" pitchFamily="34" charset="0"/>
              <a:buChar char="•"/>
            </a:pPr>
            <a:r>
              <a:rPr lang="en-US" dirty="0"/>
              <a:t>Prevents hacking and system manipulation</a:t>
            </a:r>
          </a:p>
          <a:p>
            <a:pPr>
              <a:buFont typeface="Arial" panose="020B0604020202020204" pitchFamily="34" charset="0"/>
              <a:buChar char="•"/>
            </a:pPr>
            <a:r>
              <a:rPr lang="en-US" dirty="0"/>
              <a:t>Protects patient data and surgical accuracy</a:t>
            </a:r>
          </a:p>
          <a:p>
            <a:pPr>
              <a:buFont typeface="Arial" panose="020B0604020202020204" pitchFamily="34" charset="0"/>
              <a:buChar char="•"/>
            </a:pPr>
            <a:r>
              <a:rPr lang="en-US" dirty="0"/>
              <a:t>Ensures uninterrupted remote surgery</a:t>
            </a:r>
          </a:p>
          <a:p>
            <a:endParaRPr lang="en-US" dirty="0"/>
          </a:p>
          <a:p>
            <a:pPr>
              <a:buNone/>
            </a:pPr>
            <a:r>
              <a:rPr lang="en-US" b="1" dirty="0"/>
              <a:t>Ba</a:t>
            </a:r>
            <a:r>
              <a:rPr lang="en-US" b="1" dirty="0">
                <a:latin typeface="+mj-lt"/>
              </a:rPr>
              <a:t>sic Security</a:t>
            </a:r>
            <a:r>
              <a:rPr lang="en-US" b="1" dirty="0"/>
              <a:t>:</a:t>
            </a:r>
          </a:p>
          <a:p>
            <a:pPr>
              <a:buNone/>
            </a:pPr>
            <a:br>
              <a:rPr lang="en-US" dirty="0"/>
            </a:br>
            <a:r>
              <a:rPr lang="en-US" dirty="0"/>
              <a:t>Secure Network + Encryption + Authentication</a:t>
            </a:r>
          </a:p>
        </p:txBody>
      </p:sp>
    </p:spTree>
    <p:extLst>
      <p:ext uri="{BB962C8B-B14F-4D97-AF65-F5344CB8AC3E}">
        <p14:creationId xmlns:p14="http://schemas.microsoft.com/office/powerpoint/2010/main" val="18375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75B0-949D-B640-7A1F-DC553FFA156B}"/>
              </a:ext>
            </a:extLst>
          </p:cNvPr>
          <p:cNvSpPr>
            <a:spLocks noGrp="1"/>
          </p:cNvSpPr>
          <p:nvPr>
            <p:ph type="title"/>
          </p:nvPr>
        </p:nvSpPr>
        <p:spPr/>
        <p:txBody>
          <a:bodyPr/>
          <a:lstStyle/>
          <a:p>
            <a:r>
              <a:rPr lang="en-US" dirty="0"/>
              <a:t>                              Key Concepts</a:t>
            </a:r>
            <a:endParaRPr lang="en-IN" dirty="0"/>
          </a:p>
        </p:txBody>
      </p:sp>
      <p:sp>
        <p:nvSpPr>
          <p:cNvPr id="4" name="Rectangle 1">
            <a:extLst>
              <a:ext uri="{FF2B5EF4-FFF2-40B4-BE49-F238E27FC236}">
                <a16:creationId xmlns:a16="http://schemas.microsoft.com/office/drawing/2014/main" id="{BCD05F51-BD89-9F53-2CE5-BA91C76EB293}"/>
              </a:ext>
            </a:extLst>
          </p:cNvPr>
          <p:cNvSpPr>
            <a:spLocks noGrp="1" noChangeArrowheads="1"/>
          </p:cNvSpPr>
          <p:nvPr>
            <p:ph idx="1"/>
          </p:nvPr>
        </p:nvSpPr>
        <p:spPr bwMode="auto">
          <a:xfrm>
            <a:off x="1057106" y="1630548"/>
            <a:ext cx="1028578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Real-time communication must be secure and have low latency to avoid delays during surgery.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Strong authentication ensures only authorized surgeons and systems can access surgical controls.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Data encryption protects live video, control commands, and patient information from interception.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Continuous system monitoring helps detect and respond to cyber threats immediately.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System reliability and backup mechanisms are essential to maintain safe operation during failures or attacks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01252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041A-4436-72EB-1D28-CB63DEAE3EDA}"/>
              </a:ext>
            </a:extLst>
          </p:cNvPr>
          <p:cNvSpPr>
            <a:spLocks noGrp="1"/>
          </p:cNvSpPr>
          <p:nvPr>
            <p:ph type="title"/>
          </p:nvPr>
        </p:nvSpPr>
        <p:spPr/>
        <p:txBody>
          <a:bodyPr/>
          <a:lstStyle/>
          <a:p>
            <a:r>
              <a:rPr lang="en-US" dirty="0"/>
              <a:t>                            Data Collection</a:t>
            </a:r>
            <a:endParaRPr lang="en-IN" dirty="0"/>
          </a:p>
        </p:txBody>
      </p:sp>
      <p:sp>
        <p:nvSpPr>
          <p:cNvPr id="3" name="Content Placeholder 2">
            <a:extLst>
              <a:ext uri="{FF2B5EF4-FFF2-40B4-BE49-F238E27FC236}">
                <a16:creationId xmlns:a16="http://schemas.microsoft.com/office/drawing/2014/main" id="{9E06C4E9-A9AE-09F4-92D9-F5910CCA663B}"/>
              </a:ext>
            </a:extLst>
          </p:cNvPr>
          <p:cNvSpPr>
            <a:spLocks noGrp="1"/>
          </p:cNvSpPr>
          <p:nvPr>
            <p:ph idx="1"/>
          </p:nvPr>
        </p:nvSpPr>
        <p:spPr>
          <a:xfrm>
            <a:off x="1066800" y="1916832"/>
            <a:ext cx="10285784" cy="4608512"/>
          </a:xfrm>
        </p:spPr>
        <p:txBody>
          <a:bodyPr/>
          <a:lstStyle/>
          <a:p>
            <a:r>
              <a:rPr lang="en-US" b="1" dirty="0"/>
              <a:t>Purpose:</a:t>
            </a:r>
            <a:br>
              <a:rPr lang="en-US" dirty="0"/>
            </a:br>
            <a:r>
              <a:rPr lang="en-US" dirty="0"/>
              <a:t>The goal of this project is to analyze and predict cybersecurity risks in telesurgery to ensure safe and reliable remote surgical procedures.</a:t>
            </a:r>
          </a:p>
          <a:p>
            <a:r>
              <a:rPr lang="en-US" b="1" dirty="0"/>
              <a:t>Front End (</a:t>
            </a:r>
            <a:r>
              <a:rPr lang="en-US" b="1" dirty="0" err="1"/>
              <a:t>Gradio</a:t>
            </a:r>
            <a:r>
              <a:rPr lang="en-US" b="1" dirty="0"/>
              <a:t>):</a:t>
            </a:r>
            <a:br>
              <a:rPr lang="en-US" dirty="0"/>
            </a:br>
            <a:r>
              <a:rPr lang="en-US" dirty="0"/>
              <a:t>A simple </a:t>
            </a:r>
            <a:r>
              <a:rPr lang="en-US" dirty="0" err="1"/>
              <a:t>Gradio</a:t>
            </a:r>
            <a:r>
              <a:rPr lang="en-US" dirty="0"/>
              <a:t> interface is used to collect inputs such as network latency, system access details, encryption status, and threat alerts for security monitoring.</a:t>
            </a:r>
          </a:p>
          <a:p>
            <a:r>
              <a:rPr lang="en-US" b="1" dirty="0"/>
              <a:t>ML Models Used:</a:t>
            </a:r>
            <a:br>
              <a:rPr lang="en-US" dirty="0"/>
            </a:br>
            <a:r>
              <a:rPr lang="en-US" dirty="0"/>
              <a:t>Random Forest</a:t>
            </a:r>
            <a:r>
              <a:rPr lang="en-US"/>
              <a:t>, SVC and XG-Boost </a:t>
            </a:r>
            <a:r>
              <a:rPr lang="en-US" dirty="0"/>
              <a:t>are applied to detect cyber threats and system anomalies.</a:t>
            </a:r>
          </a:p>
          <a:p>
            <a:endParaRPr lang="en-IN" dirty="0"/>
          </a:p>
        </p:txBody>
      </p:sp>
    </p:spTree>
    <p:extLst>
      <p:ext uri="{BB962C8B-B14F-4D97-AF65-F5344CB8AC3E}">
        <p14:creationId xmlns:p14="http://schemas.microsoft.com/office/powerpoint/2010/main" val="926001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CFAF-733E-F2DC-DFD5-848CA8CED4BE}"/>
              </a:ext>
            </a:extLst>
          </p:cNvPr>
          <p:cNvSpPr>
            <a:spLocks noGrp="1"/>
          </p:cNvSpPr>
          <p:nvPr>
            <p:ph type="title"/>
          </p:nvPr>
        </p:nvSpPr>
        <p:spPr/>
        <p:txBody>
          <a:bodyPr/>
          <a:lstStyle/>
          <a:p>
            <a:r>
              <a:rPr lang="en-US" dirty="0"/>
              <a:t>                           Process of Dataset</a:t>
            </a:r>
            <a:endParaRPr lang="en-IN" dirty="0"/>
          </a:p>
        </p:txBody>
      </p:sp>
      <p:sp>
        <p:nvSpPr>
          <p:cNvPr id="4" name="Rectangle 1">
            <a:extLst>
              <a:ext uri="{FF2B5EF4-FFF2-40B4-BE49-F238E27FC236}">
                <a16:creationId xmlns:a16="http://schemas.microsoft.com/office/drawing/2014/main" id="{FF90607E-A21A-3330-11BC-28FCFBCD3B24}"/>
              </a:ext>
            </a:extLst>
          </p:cNvPr>
          <p:cNvSpPr>
            <a:spLocks noGrp="1" noChangeArrowheads="1"/>
          </p:cNvSpPr>
          <p:nvPr>
            <p:ph idx="1"/>
          </p:nvPr>
        </p:nvSpPr>
        <p:spPr bwMode="auto">
          <a:xfrm>
            <a:off x="1066800" y="2149018"/>
            <a:ext cx="1014176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Data Acquisition:</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Collected telesurgery-related data such as network latency, access logs, encryption status, and threat events.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Data Cleaning:</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Removed missing values, duplicates, and irrelevant records to ensure accuracy.</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Data Transformation:</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rPr>
              <a:t>Encoded categorical features and scaled numerical values for consistency.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680541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A8F9C-8C4F-F340-A1B3-34098944070B}"/>
              </a:ext>
            </a:extLst>
          </p:cNvPr>
          <p:cNvSpPr>
            <a:spLocks noGrp="1"/>
          </p:cNvSpPr>
          <p:nvPr>
            <p:ph type="title"/>
          </p:nvPr>
        </p:nvSpPr>
        <p:spPr/>
        <p:txBody>
          <a:bodyPr/>
          <a:lstStyle/>
          <a:p>
            <a:r>
              <a:rPr lang="en-US" dirty="0"/>
              <a:t>                        Process of dataset</a:t>
            </a:r>
            <a:endParaRPr lang="en-IN" dirty="0"/>
          </a:p>
        </p:txBody>
      </p:sp>
      <p:sp>
        <p:nvSpPr>
          <p:cNvPr id="3" name="Content Placeholder 2">
            <a:extLst>
              <a:ext uri="{FF2B5EF4-FFF2-40B4-BE49-F238E27FC236}">
                <a16:creationId xmlns:a16="http://schemas.microsoft.com/office/drawing/2014/main" id="{4D451939-94D5-9434-98B5-DEC29A3591A1}"/>
              </a:ext>
            </a:extLst>
          </p:cNvPr>
          <p:cNvSpPr>
            <a:spLocks noGrp="1"/>
          </p:cNvSpPr>
          <p:nvPr>
            <p:ph idx="1"/>
          </p:nvPr>
        </p:nvSpPr>
        <p:spPr>
          <a:xfrm>
            <a:off x="1127448" y="2302024"/>
            <a:ext cx="9468544" cy="4555976"/>
          </a:xfrm>
        </p:spPr>
        <p:txBody>
          <a:bodyPr/>
          <a:lstStyle/>
          <a:p>
            <a:r>
              <a:rPr lang="en-US" b="1" dirty="0"/>
              <a:t>Feature Selection:</a:t>
            </a:r>
            <a:br>
              <a:rPr lang="en-US" dirty="0"/>
            </a:br>
            <a:r>
              <a:rPr lang="en-US" dirty="0"/>
              <a:t>Selected key security and performance parameters affecting telesurgery safety.</a:t>
            </a:r>
          </a:p>
          <a:p>
            <a:r>
              <a:rPr lang="en-US" b="1" dirty="0"/>
              <a:t>Final Dataset:</a:t>
            </a:r>
            <a:br>
              <a:rPr lang="en-US" dirty="0"/>
            </a:br>
            <a:r>
              <a:rPr lang="en-US" dirty="0"/>
              <a:t>Prepared a clean, structured dataset ready for machine learning model training and testing.</a:t>
            </a:r>
          </a:p>
          <a:p>
            <a:endParaRPr lang="en-IN" dirty="0"/>
          </a:p>
        </p:txBody>
      </p:sp>
    </p:spTree>
    <p:extLst>
      <p:ext uri="{BB962C8B-B14F-4D97-AF65-F5344CB8AC3E}">
        <p14:creationId xmlns:p14="http://schemas.microsoft.com/office/powerpoint/2010/main" val="4120067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6D074-1728-81C5-B11B-E11E7CC38AC6}"/>
              </a:ext>
            </a:extLst>
          </p:cNvPr>
          <p:cNvSpPr>
            <a:spLocks noGrp="1"/>
          </p:cNvSpPr>
          <p:nvPr>
            <p:ph type="title"/>
          </p:nvPr>
        </p:nvSpPr>
        <p:spPr/>
        <p:txBody>
          <a:bodyPr/>
          <a:lstStyle/>
          <a:p>
            <a:r>
              <a:rPr lang="en-US" dirty="0"/>
              <a:t>                                   Dataset</a:t>
            </a:r>
            <a:endParaRPr lang="en-IN" dirty="0"/>
          </a:p>
        </p:txBody>
      </p:sp>
      <p:pic>
        <p:nvPicPr>
          <p:cNvPr id="5" name="Content Placeholder 4">
            <a:extLst>
              <a:ext uri="{FF2B5EF4-FFF2-40B4-BE49-F238E27FC236}">
                <a16:creationId xmlns:a16="http://schemas.microsoft.com/office/drawing/2014/main" id="{D770CAAA-6DE3-7CBB-773C-FC32EB7851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1860288"/>
            <a:ext cx="9144000" cy="4509024"/>
          </a:xfrm>
        </p:spPr>
      </p:pic>
    </p:spTree>
    <p:extLst>
      <p:ext uri="{BB962C8B-B14F-4D97-AF65-F5344CB8AC3E}">
        <p14:creationId xmlns:p14="http://schemas.microsoft.com/office/powerpoint/2010/main" val="11752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C38D6-4115-0E83-054D-552A91F0E8BD}"/>
              </a:ext>
            </a:extLst>
          </p:cNvPr>
          <p:cNvSpPr>
            <a:spLocks noGrp="1"/>
          </p:cNvSpPr>
          <p:nvPr>
            <p:ph type="title"/>
          </p:nvPr>
        </p:nvSpPr>
        <p:spPr/>
        <p:txBody>
          <a:bodyPr/>
          <a:lstStyle/>
          <a:p>
            <a:r>
              <a:rPr lang="en-US" dirty="0"/>
              <a:t>                                    Dataset</a:t>
            </a:r>
            <a:endParaRPr lang="en-IN" dirty="0"/>
          </a:p>
        </p:txBody>
      </p:sp>
      <p:pic>
        <p:nvPicPr>
          <p:cNvPr id="7" name="Content Placeholder 6">
            <a:extLst>
              <a:ext uri="{FF2B5EF4-FFF2-40B4-BE49-F238E27FC236}">
                <a16:creationId xmlns:a16="http://schemas.microsoft.com/office/drawing/2014/main" id="{51F0970B-A30E-8E57-9A7B-8F2FE0EDD7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6602" y="1828800"/>
            <a:ext cx="8818795" cy="4572000"/>
          </a:xfrm>
        </p:spPr>
      </p:pic>
    </p:spTree>
    <p:extLst>
      <p:ext uri="{BB962C8B-B14F-4D97-AF65-F5344CB8AC3E}">
        <p14:creationId xmlns:p14="http://schemas.microsoft.com/office/powerpoint/2010/main" val="395191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Graphical Overview</a:t>
            </a:r>
          </a:p>
        </p:txBody>
      </p:sp>
      <p:pic>
        <p:nvPicPr>
          <p:cNvPr id="6" name="Content Placeholder 5">
            <a:extLst>
              <a:ext uri="{FF2B5EF4-FFF2-40B4-BE49-F238E27FC236}">
                <a16:creationId xmlns:a16="http://schemas.microsoft.com/office/drawing/2014/main" id="{B77CC257-8E78-ACC3-8BD2-467A7F3D47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88089" y="4077072"/>
            <a:ext cx="3444538" cy="2609700"/>
          </a:xfrm>
        </p:spPr>
      </p:pic>
      <p:pic>
        <p:nvPicPr>
          <p:cNvPr id="8" name="Picture 7">
            <a:extLst>
              <a:ext uri="{FF2B5EF4-FFF2-40B4-BE49-F238E27FC236}">
                <a16:creationId xmlns:a16="http://schemas.microsoft.com/office/drawing/2014/main" id="{C3C93C99-9CE8-E154-6E97-523EAADC2F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223" y="4005063"/>
            <a:ext cx="3787612" cy="2737585"/>
          </a:xfrm>
          <a:prstGeom prst="rect">
            <a:avLst/>
          </a:prstGeom>
        </p:spPr>
      </p:pic>
      <p:pic>
        <p:nvPicPr>
          <p:cNvPr id="10" name="Picture 9">
            <a:extLst>
              <a:ext uri="{FF2B5EF4-FFF2-40B4-BE49-F238E27FC236}">
                <a16:creationId xmlns:a16="http://schemas.microsoft.com/office/drawing/2014/main" id="{196309D1-A256-93C4-0E6C-C87BC1B939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8088" y="1541708"/>
            <a:ext cx="3444538" cy="2334423"/>
          </a:xfrm>
          <a:prstGeom prst="rect">
            <a:avLst/>
          </a:prstGeom>
        </p:spPr>
      </p:pic>
      <p:pic>
        <p:nvPicPr>
          <p:cNvPr id="12" name="Picture 11">
            <a:extLst>
              <a:ext uri="{FF2B5EF4-FFF2-40B4-BE49-F238E27FC236}">
                <a16:creationId xmlns:a16="http://schemas.microsoft.com/office/drawing/2014/main" id="{EF873E85-BBAA-5881-CA59-ED63D86CEA3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67408" y="1541708"/>
            <a:ext cx="3787613" cy="2334422"/>
          </a:xfrm>
          <a:prstGeom prst="rect">
            <a:avLst/>
          </a:prstGeom>
        </p:spPr>
      </p:pic>
    </p:spTree>
    <p:extLst>
      <p:ext uri="{BB962C8B-B14F-4D97-AF65-F5344CB8AC3E}">
        <p14:creationId xmlns:p14="http://schemas.microsoft.com/office/powerpoint/2010/main" val="353771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9868A-842C-4E28-47C2-6B49A8BA563D}"/>
              </a:ext>
            </a:extLst>
          </p:cNvPr>
          <p:cNvSpPr>
            <a:spLocks noGrp="1"/>
          </p:cNvSpPr>
          <p:nvPr>
            <p:ph type="title"/>
          </p:nvPr>
        </p:nvSpPr>
        <p:spPr/>
        <p:txBody>
          <a:bodyPr/>
          <a:lstStyle/>
          <a:p>
            <a:r>
              <a:rPr lang="en-US" dirty="0"/>
              <a:t>                 	Graphical Overview</a:t>
            </a:r>
            <a:endParaRPr lang="en-IN" dirty="0"/>
          </a:p>
        </p:txBody>
      </p:sp>
      <p:pic>
        <p:nvPicPr>
          <p:cNvPr id="5" name="Content Placeholder 4">
            <a:extLst>
              <a:ext uri="{FF2B5EF4-FFF2-40B4-BE49-F238E27FC236}">
                <a16:creationId xmlns:a16="http://schemas.microsoft.com/office/drawing/2014/main" id="{83FB43CF-7BFE-DB83-763F-0AFD2BCC5A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3591" y="4883154"/>
            <a:ext cx="7939345" cy="1875626"/>
          </a:xfrm>
        </p:spPr>
      </p:pic>
      <p:pic>
        <p:nvPicPr>
          <p:cNvPr id="7" name="Picture 6">
            <a:extLst>
              <a:ext uri="{FF2B5EF4-FFF2-40B4-BE49-F238E27FC236}">
                <a16:creationId xmlns:a16="http://schemas.microsoft.com/office/drawing/2014/main" id="{535D3CB9-FCBC-27BC-4000-50771B3F0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3592" y="1681263"/>
            <a:ext cx="7920880" cy="3691953"/>
          </a:xfrm>
          <a:prstGeom prst="rect">
            <a:avLst/>
          </a:prstGeom>
        </p:spPr>
      </p:pic>
    </p:spTree>
    <p:extLst>
      <p:ext uri="{BB962C8B-B14F-4D97-AF65-F5344CB8AC3E}">
        <p14:creationId xmlns:p14="http://schemas.microsoft.com/office/powerpoint/2010/main" val="256097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1F5BC-E6F9-B215-817B-C9456546F1EA}"/>
              </a:ext>
            </a:extLst>
          </p:cNvPr>
          <p:cNvSpPr>
            <a:spLocks noGrp="1"/>
          </p:cNvSpPr>
          <p:nvPr>
            <p:ph type="title"/>
          </p:nvPr>
        </p:nvSpPr>
        <p:spPr/>
        <p:txBody>
          <a:bodyPr/>
          <a:lstStyle/>
          <a:p>
            <a:r>
              <a:rPr lang="en-US" dirty="0"/>
              <a:t>                           Result Obtained</a:t>
            </a:r>
            <a:endParaRPr lang="en-IN" dirty="0"/>
          </a:p>
        </p:txBody>
      </p:sp>
      <p:sp>
        <p:nvSpPr>
          <p:cNvPr id="15" name="Text Placeholder 14">
            <a:extLst>
              <a:ext uri="{FF2B5EF4-FFF2-40B4-BE49-F238E27FC236}">
                <a16:creationId xmlns:a16="http://schemas.microsoft.com/office/drawing/2014/main" id="{3E96CE9E-52CD-00A2-7C09-5976995164DE}"/>
              </a:ext>
            </a:extLst>
          </p:cNvPr>
          <p:cNvSpPr>
            <a:spLocks noGrp="1"/>
          </p:cNvSpPr>
          <p:nvPr>
            <p:ph type="body" idx="1"/>
          </p:nvPr>
        </p:nvSpPr>
        <p:spPr/>
        <p:txBody>
          <a:bodyPr/>
          <a:lstStyle/>
          <a:p>
            <a:r>
              <a:rPr lang="en-US" dirty="0" err="1"/>
              <a:t>RandomForest</a:t>
            </a:r>
            <a:r>
              <a:rPr lang="en-US" dirty="0"/>
              <a:t> Classifier</a:t>
            </a:r>
            <a:endParaRPr lang="en-IN" dirty="0"/>
          </a:p>
        </p:txBody>
      </p:sp>
      <p:sp>
        <p:nvSpPr>
          <p:cNvPr id="17" name="Text Placeholder 16">
            <a:extLst>
              <a:ext uri="{FF2B5EF4-FFF2-40B4-BE49-F238E27FC236}">
                <a16:creationId xmlns:a16="http://schemas.microsoft.com/office/drawing/2014/main" id="{CAAFB548-AA0C-5A19-02FB-876C0D2664DD}"/>
              </a:ext>
            </a:extLst>
          </p:cNvPr>
          <p:cNvSpPr>
            <a:spLocks noGrp="1"/>
          </p:cNvSpPr>
          <p:nvPr>
            <p:ph type="body" sz="quarter" idx="3"/>
          </p:nvPr>
        </p:nvSpPr>
        <p:spPr/>
        <p:txBody>
          <a:bodyPr/>
          <a:lstStyle/>
          <a:p>
            <a:r>
              <a:rPr lang="en-US" dirty="0"/>
              <a:t>XGB Classifier</a:t>
            </a:r>
            <a:endParaRPr lang="en-IN" dirty="0"/>
          </a:p>
        </p:txBody>
      </p:sp>
      <p:pic>
        <p:nvPicPr>
          <p:cNvPr id="6" name="Content Placeholder 5">
            <a:extLst>
              <a:ext uri="{FF2B5EF4-FFF2-40B4-BE49-F238E27FC236}">
                <a16:creationId xmlns:a16="http://schemas.microsoft.com/office/drawing/2014/main" id="{D2F932BB-312F-3BC6-E487-2B877DF58FBF}"/>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324600" y="2708921"/>
            <a:ext cx="4800600" cy="2714514"/>
          </a:xfrm>
          <a:prstGeom prst="rect">
            <a:avLst/>
          </a:prstGeom>
        </p:spPr>
      </p:pic>
      <p:pic>
        <p:nvPicPr>
          <p:cNvPr id="10" name="Content Placeholder 9">
            <a:extLst>
              <a:ext uri="{FF2B5EF4-FFF2-40B4-BE49-F238E27FC236}">
                <a16:creationId xmlns:a16="http://schemas.microsoft.com/office/drawing/2014/main" id="{0F66C24F-6D67-C9D2-82C3-00857DE6867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066800" y="2780928"/>
            <a:ext cx="4800600" cy="2827132"/>
          </a:xfrm>
          <a:prstGeom prst="rect">
            <a:avLst/>
          </a:prstGeom>
        </p:spPr>
      </p:pic>
    </p:spTree>
    <p:extLst>
      <p:ext uri="{BB962C8B-B14F-4D97-AF65-F5344CB8AC3E}">
        <p14:creationId xmlns:p14="http://schemas.microsoft.com/office/powerpoint/2010/main" val="239608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05BF5-9E66-88EB-A5CD-DE3263CE62D8}"/>
              </a:ext>
            </a:extLst>
          </p:cNvPr>
          <p:cNvSpPr>
            <a:spLocks noGrp="1"/>
          </p:cNvSpPr>
          <p:nvPr>
            <p:ph type="title"/>
          </p:nvPr>
        </p:nvSpPr>
        <p:spPr/>
        <p:txBody>
          <a:bodyPr/>
          <a:lstStyle/>
          <a:p>
            <a:r>
              <a:rPr lang="en-US" dirty="0"/>
              <a:t>                          Result Obtained</a:t>
            </a:r>
            <a:endParaRPr lang="en-IN" dirty="0"/>
          </a:p>
        </p:txBody>
      </p:sp>
      <p:sp>
        <p:nvSpPr>
          <p:cNvPr id="3" name="Text Placeholder 2">
            <a:extLst>
              <a:ext uri="{FF2B5EF4-FFF2-40B4-BE49-F238E27FC236}">
                <a16:creationId xmlns:a16="http://schemas.microsoft.com/office/drawing/2014/main" id="{7D313CB3-A4E8-5F2B-C7ED-2EE4A4FE7C96}"/>
              </a:ext>
            </a:extLst>
          </p:cNvPr>
          <p:cNvSpPr>
            <a:spLocks noGrp="1"/>
          </p:cNvSpPr>
          <p:nvPr>
            <p:ph type="body" idx="4294967295"/>
          </p:nvPr>
        </p:nvSpPr>
        <p:spPr>
          <a:xfrm>
            <a:off x="3863752" y="2276872"/>
            <a:ext cx="4800600" cy="762000"/>
          </a:xfrm>
        </p:spPr>
        <p:txBody>
          <a:bodyPr/>
          <a:lstStyle/>
          <a:p>
            <a:pPr marL="0" indent="0">
              <a:buNone/>
            </a:pPr>
            <a:r>
              <a:rPr lang="en-US" dirty="0"/>
              <a:t> SVC</a:t>
            </a:r>
            <a:endParaRPr lang="en-IN" dirty="0"/>
          </a:p>
        </p:txBody>
      </p:sp>
      <p:pic>
        <p:nvPicPr>
          <p:cNvPr id="7" name="Content Placeholder 6">
            <a:extLst>
              <a:ext uri="{FF2B5EF4-FFF2-40B4-BE49-F238E27FC236}">
                <a16:creationId xmlns:a16="http://schemas.microsoft.com/office/drawing/2014/main" id="{DEEC06F6-C451-78A8-33F3-4D03E162F9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0784" y="2638219"/>
            <a:ext cx="7030431" cy="2953162"/>
          </a:xfrm>
          <a:prstGeom prst="rect">
            <a:avLst/>
          </a:prstGeom>
        </p:spPr>
      </p:pic>
    </p:spTree>
    <p:extLst>
      <p:ext uri="{BB962C8B-B14F-4D97-AF65-F5344CB8AC3E}">
        <p14:creationId xmlns:p14="http://schemas.microsoft.com/office/powerpoint/2010/main" val="1001865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EA081-F1F1-1485-7040-E853F990E421}"/>
              </a:ext>
            </a:extLst>
          </p:cNvPr>
          <p:cNvSpPr>
            <a:spLocks noGrp="1"/>
          </p:cNvSpPr>
          <p:nvPr>
            <p:ph type="title"/>
          </p:nvPr>
        </p:nvSpPr>
        <p:spPr/>
        <p:txBody>
          <a:bodyPr/>
          <a:lstStyle/>
          <a:p>
            <a:r>
              <a:rPr lang="en-US" dirty="0"/>
              <a:t>                        Result Obtained</a:t>
            </a:r>
            <a:endParaRPr lang="en-IN" dirty="0"/>
          </a:p>
        </p:txBody>
      </p:sp>
      <p:sp>
        <p:nvSpPr>
          <p:cNvPr id="4" name="Rectangle 1">
            <a:extLst>
              <a:ext uri="{FF2B5EF4-FFF2-40B4-BE49-F238E27FC236}">
                <a16:creationId xmlns:a16="http://schemas.microsoft.com/office/drawing/2014/main" id="{4529C91F-38E2-A16B-178B-D9C63F1D8C03}"/>
              </a:ext>
            </a:extLst>
          </p:cNvPr>
          <p:cNvSpPr>
            <a:spLocks noGrp="1" noChangeArrowheads="1"/>
          </p:cNvSpPr>
          <p:nvPr>
            <p:ph idx="1"/>
          </p:nvPr>
        </p:nvSpPr>
        <p:spPr bwMode="auto">
          <a:xfrm>
            <a:off x="1294184" y="1668710"/>
            <a:ext cx="100584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Model comparison </a:t>
            </a:r>
            <a:r>
              <a:rPr kumimoji="0" lang="en-US" altLang="en-US" b="0" i="0" u="none" strike="noStrike" cap="none" normalizeH="0" baseline="0" dirty="0">
                <a:ln>
                  <a:noFill/>
                </a:ln>
                <a:solidFill>
                  <a:schemeClr val="tx1"/>
                </a:solidFill>
                <a:effectLst/>
                <a:latin typeface="Arial" panose="020B0604020202020204" pitchFamily="34" charset="0"/>
              </a:rPr>
              <a:t>Show how Random Forest and XGB performed differently, highlighting why one achieved perfect accuracy while the other struggled.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Evaluation awareness </a:t>
            </a:r>
            <a:r>
              <a:rPr kumimoji="0" lang="en-US" altLang="en-US" b="0" i="0" u="none" strike="noStrike" cap="none" normalizeH="0" baseline="0" dirty="0">
                <a:ln>
                  <a:noFill/>
                </a:ln>
                <a:solidFill>
                  <a:schemeClr val="tx1"/>
                </a:solidFill>
                <a:effectLst/>
                <a:latin typeface="Arial" panose="020B0604020202020204" pitchFamily="34" charset="0"/>
              </a:rPr>
              <a:t>Explain why perfect scores can be misleading (data leakage, imbalance, overfitting) and why realistic evaluation matters.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Practical application</a:t>
            </a:r>
            <a:r>
              <a:rPr kumimoji="0" lang="en-US" altLang="en-US" b="0" i="0" u="none" strike="noStrike" cap="none" normalizeH="0" baseline="0" dirty="0">
                <a:ln>
                  <a:noFill/>
                </a:ln>
                <a:solidFill>
                  <a:schemeClr val="tx1"/>
                </a:solidFill>
                <a:effectLst/>
                <a:latin typeface="Arial" panose="020B0604020202020204" pitchFamily="34" charset="0"/>
              </a:rPr>
              <a:t> Connect the models to real-world threat detection or anomaly detection tasks, showing business or security relevance.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Improvement strategies</a:t>
            </a:r>
            <a:r>
              <a:rPr kumimoji="0" lang="en-US" altLang="en-US" b="0" i="0" u="none" strike="noStrike" cap="none" normalizeH="0" baseline="0" dirty="0">
                <a:ln>
                  <a:noFill/>
                </a:ln>
                <a:solidFill>
                  <a:schemeClr val="tx1"/>
                </a:solidFill>
                <a:effectLst/>
                <a:latin typeface="Arial" panose="020B0604020202020204" pitchFamily="34" charset="0"/>
              </a:rPr>
              <a:t> Present methods like cross-validation, SMOTE, or parameter tuning to improve weak models and reduce overfitting in strong ones</a:t>
            </a:r>
          </a:p>
        </p:txBody>
      </p:sp>
    </p:spTree>
    <p:extLst>
      <p:ext uri="{BB962C8B-B14F-4D97-AF65-F5344CB8AC3E}">
        <p14:creationId xmlns:p14="http://schemas.microsoft.com/office/powerpoint/2010/main" val="1442894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User Interface</a:t>
            </a:r>
          </a:p>
        </p:txBody>
      </p:sp>
      <p:pic>
        <p:nvPicPr>
          <p:cNvPr id="7" name="Content Placeholder 6">
            <a:extLst>
              <a:ext uri="{FF2B5EF4-FFF2-40B4-BE49-F238E27FC236}">
                <a16:creationId xmlns:a16="http://schemas.microsoft.com/office/drawing/2014/main" id="{5A555B02-122F-8B85-5B2E-1323497E46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8086" y="1828800"/>
            <a:ext cx="9270442" cy="4572000"/>
          </a:xfrm>
        </p:spPr>
      </p:pic>
    </p:spTree>
    <p:extLst>
      <p:ext uri="{BB962C8B-B14F-4D97-AF65-F5344CB8AC3E}">
        <p14:creationId xmlns:p14="http://schemas.microsoft.com/office/powerpoint/2010/main" val="291474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Key Insights and Finding</a:t>
            </a:r>
          </a:p>
        </p:txBody>
      </p:sp>
      <p:sp>
        <p:nvSpPr>
          <p:cNvPr id="6" name="Rectangle 1">
            <a:extLst>
              <a:ext uri="{FF2B5EF4-FFF2-40B4-BE49-F238E27FC236}">
                <a16:creationId xmlns:a16="http://schemas.microsoft.com/office/drawing/2014/main" id="{77965E82-C0D7-C3D9-3ACB-F791366D7A80}"/>
              </a:ext>
            </a:extLst>
          </p:cNvPr>
          <p:cNvSpPr>
            <a:spLocks noGrp="1" noChangeArrowheads="1"/>
          </p:cNvSpPr>
          <p:nvPr>
            <p:ph idx="1"/>
          </p:nvPr>
        </p:nvSpPr>
        <p:spPr bwMode="auto">
          <a:xfrm>
            <a:off x="1222176" y="2068107"/>
            <a:ext cx="10058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High network latency directly impacts real-time robotic control, increasing the risk of surgical delays and command errors.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Authentication and access logs showed that unauthorized login attempts are one of the most frequent security vulnerabilities.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rPr>
              <a:t>End-to-end encryption effectively protected live video streams and control signals from data interception</a:t>
            </a:r>
          </a:p>
        </p:txBody>
      </p:sp>
    </p:spTree>
    <p:extLst>
      <p:ext uri="{BB962C8B-B14F-4D97-AF65-F5344CB8AC3E}">
        <p14:creationId xmlns:p14="http://schemas.microsoft.com/office/powerpoint/2010/main" val="30492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063F8-588C-D1BD-D9E7-F7D6C23C6B62}"/>
              </a:ext>
            </a:extLst>
          </p:cNvPr>
          <p:cNvSpPr>
            <a:spLocks noGrp="1"/>
          </p:cNvSpPr>
          <p:nvPr>
            <p:ph type="title"/>
          </p:nvPr>
        </p:nvSpPr>
        <p:spPr/>
        <p:txBody>
          <a:bodyPr/>
          <a:lstStyle/>
          <a:p>
            <a:r>
              <a:rPr lang="en-US" dirty="0"/>
              <a:t>                                  Conclusion</a:t>
            </a:r>
            <a:endParaRPr lang="en-IN" dirty="0"/>
          </a:p>
        </p:txBody>
      </p:sp>
      <p:sp>
        <p:nvSpPr>
          <p:cNvPr id="3" name="Content Placeholder 2">
            <a:extLst>
              <a:ext uri="{FF2B5EF4-FFF2-40B4-BE49-F238E27FC236}">
                <a16:creationId xmlns:a16="http://schemas.microsoft.com/office/drawing/2014/main" id="{13835469-1E62-DD03-19C4-10FC86AB5477}"/>
              </a:ext>
            </a:extLst>
          </p:cNvPr>
          <p:cNvSpPr>
            <a:spLocks noGrp="1"/>
          </p:cNvSpPr>
          <p:nvPr>
            <p:ph idx="1"/>
          </p:nvPr>
        </p:nvSpPr>
        <p:spPr>
          <a:xfrm>
            <a:off x="1524000" y="2132856"/>
            <a:ext cx="9144000" cy="4267944"/>
          </a:xfrm>
        </p:spPr>
        <p:txBody>
          <a:bodyPr>
            <a:normAutofit/>
          </a:bodyPr>
          <a:lstStyle/>
          <a:p>
            <a:r>
              <a:rPr lang="en-US" dirty="0"/>
              <a:t>Cybersecurity plays a vital role in the success of telesurgery by ensuring safe, accurate, and reliable remote surgical operations. This study highlights how secure networks, real-time monitoring, and intelligent threat detection systems can reduce cyber risks and protect patient lives. By integrating advanced security techniques with machine learning models, telesurgery can become more trustworthy and efficient. Strengthening cybersecurity today will help build a safer future for remote healthcare and advanced medical technologies.</a:t>
            </a:r>
            <a:endParaRPr lang="en-IN" dirty="0"/>
          </a:p>
        </p:txBody>
      </p:sp>
    </p:spTree>
    <p:extLst>
      <p:ext uri="{BB962C8B-B14F-4D97-AF65-F5344CB8AC3E}">
        <p14:creationId xmlns:p14="http://schemas.microsoft.com/office/powerpoint/2010/main" val="2556785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734E-BEAB-0914-76B3-B8A00E3E1C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C36C4AF-44B9-2BD6-CD8B-97E36DA8673F}"/>
              </a:ext>
            </a:extLst>
          </p:cNvPr>
          <p:cNvSpPr>
            <a:spLocks noGrp="1"/>
          </p:cNvSpPr>
          <p:nvPr>
            <p:ph idx="1"/>
          </p:nvPr>
        </p:nvSpPr>
        <p:spPr>
          <a:xfrm>
            <a:off x="0" y="0"/>
            <a:ext cx="12192000" cy="6957391"/>
          </a:xfrm>
          <a:solidFill>
            <a:schemeClr val="accent1"/>
          </a:solidFill>
        </p:spPr>
        <p:txBody>
          <a:bodyPr>
            <a:normAutofit/>
          </a:bodyPr>
          <a:lstStyle/>
          <a:p>
            <a:pPr marL="0" indent="0">
              <a:buNone/>
            </a:pPr>
            <a:endParaRPr lang="en-US" sz="9600" dirty="0"/>
          </a:p>
          <a:p>
            <a:pPr marL="0" indent="0">
              <a:buNone/>
            </a:pPr>
            <a:endParaRPr lang="en-US" sz="9600" dirty="0"/>
          </a:p>
          <a:p>
            <a:pPr marL="0" indent="0">
              <a:buNone/>
            </a:pPr>
            <a:r>
              <a:rPr lang="en-US" sz="9600" dirty="0"/>
              <a:t>          </a:t>
            </a:r>
            <a:r>
              <a:rPr lang="en-US" sz="9600" dirty="0">
                <a:solidFill>
                  <a:schemeClr val="bg2"/>
                </a:solidFill>
              </a:rPr>
              <a:t>THANK YOU</a:t>
            </a:r>
            <a:endParaRPr lang="en-IN" sz="9600" dirty="0">
              <a:solidFill>
                <a:schemeClr val="bg2"/>
              </a:solidFill>
            </a:endParaRPr>
          </a:p>
        </p:txBody>
      </p:sp>
    </p:spTree>
    <p:extLst>
      <p:ext uri="{BB962C8B-B14F-4D97-AF65-F5344CB8AC3E}">
        <p14:creationId xmlns:p14="http://schemas.microsoft.com/office/powerpoint/2010/main" val="3881271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316</TotalTime>
  <Words>723</Words>
  <Application>Microsoft Office PowerPoint</Application>
  <PresentationFormat>Widescreen</PresentationFormat>
  <Paragraphs>80</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Franklin Gothic Medium</vt:lpstr>
      <vt:lpstr>Medical Design 16x9</vt:lpstr>
      <vt:lpstr>Telesurgery Cybersecurity    Prediction                              </vt:lpstr>
      <vt:lpstr>                       INTRODUCTION</vt:lpstr>
      <vt:lpstr>                               Objective</vt:lpstr>
      <vt:lpstr>PowerPoint Presentation</vt:lpstr>
      <vt:lpstr>                              Key Concepts</vt:lpstr>
      <vt:lpstr>                            Data Collection</vt:lpstr>
      <vt:lpstr>                           Process of Dataset</vt:lpstr>
      <vt:lpstr>                        Process of dataset</vt:lpstr>
      <vt:lpstr>                                   Dataset</vt:lpstr>
      <vt:lpstr>                                    Dataset</vt:lpstr>
      <vt:lpstr>                        Graphical Overview</vt:lpstr>
      <vt:lpstr>                  Graphical Overview</vt:lpstr>
      <vt:lpstr>                           Result Obtained</vt:lpstr>
      <vt:lpstr>                          Result Obtained</vt:lpstr>
      <vt:lpstr>                        Result Obtained</vt:lpstr>
      <vt:lpstr>                                User Interface</vt:lpstr>
      <vt:lpstr>                     Key Insights and Finding</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Shibin T S</dc:creator>
  <cp:lastModifiedBy>Shibin T S</cp:lastModifiedBy>
  <cp:revision>5</cp:revision>
  <dcterms:created xsi:type="dcterms:W3CDTF">2026-01-14T16:41:37Z</dcterms:created>
  <dcterms:modified xsi:type="dcterms:W3CDTF">2026-05-25T15:37:16Z</dcterms:modified>
</cp:coreProperties>
</file>